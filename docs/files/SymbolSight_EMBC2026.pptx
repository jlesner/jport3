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[ANIMATION on this slide - plays in Slide Show mode]</a:t>
            </a:r>
          </a:p>
          <a:p/>
          <a:p>
            <a:r>
              <a:t>"Good morning everyone!</a:t>
            </a:r>
          </a:p>
          <a:p/>
          <a:p>
            <a:r>
              <a:t>That is the word 'read', one letter at a time, through a simulated retinal implant.</a:t>
            </a:r>
          </a:p>
          <a:p/>
          <a:p>
            <a:r>
              <a:t>Let me name them for you as they go past. That is an R. That is an E. That is an A. And that is a D.</a:t>
            </a:r>
          </a:p>
          <a:p/>
          <a:p>
            <a:r>
              <a:t>I know. They all look the same. That is the point.</a:t>
            </a:r>
          </a:p>
          <a:p/>
          <a:p>
            <a:r>
              <a:t>My name is Jasmine Lesner, and this is joint work with Michael Beyeler at UC Santa Barbara.</a:t>
            </a:r>
          </a:p>
          <a:p/>
          <a:p>
            <a:r>
              <a:t>The backstory: this started in Michael's graduate seminar on bionic vision. One evening I sat down and tried to read a paragraph through a simulated 16 by 16 implant, just to see what it was like.</a:t>
            </a:r>
          </a:p>
          <a:p/>
          <a:p>
            <a:r>
              <a:t>I watched every letter blur into the next one until they were shapes that were neither of them.</a:t>
            </a:r>
          </a:p>
          <a:p/>
          <a:p>
            <a:r>
              <a:t>And I got stuck on a question that turned into this whole project.</a:t>
            </a:r>
          </a:p>
          <a:p/>
          <a:p>
            <a:r>
              <a:t>Why are we sending letters?"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"So here is the frame I want to use.</a:t>
            </a:r>
          </a:p>
          <a:p/>
          <a:p>
            <a:r>
              <a:t>Reading through an implant is communication over a noisy channel. But it is a channel with memory, because each symbol is still fading when the next one arrives.</a:t>
            </a:r>
          </a:p>
          <a:p/>
          <a:p>
            <a:r>
              <a:t>The four talks before mine this morning have all been about improving that channel. Better electrodes, current steering, sequential stimulation, measuring the cortical response directly.</a:t>
            </a:r>
          </a:p>
          <a:p/>
          <a:p>
            <a:r>
              <a:t>That work matters, and I am not competing with it. I am asking the question that sits downstream of all of it.</a:t>
            </a:r>
          </a:p>
          <a:p/>
          <a:p>
            <a:r>
              <a:t>Given a channel this bad, what should we send through it?</a:t>
            </a:r>
          </a:p>
          <a:p/>
          <a:p>
            <a:r>
              <a:t>Btw: somebody did try a version of this in a real patient. Lauritzen 2012 fed Braille patterns straight into an Argus II and got 89 percent on single letters.</a:t>
            </a:r>
          </a:p>
          <a:p/>
          <a:p>
            <a:r>
              <a:t>So a non-Latin code can work. But they picked one code, by hand, for one subject who already read Braille by touch.</a:t>
            </a:r>
          </a:p>
          <a:p/>
          <a:p>
            <a:r>
              <a:t>Nobody has asked how to choose the code. That is the gap."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1 of 4]</a:t>
            </a:r>
          </a:p>
          <a:p/>
          <a:p>
            <a:r>
              <a:t>"The method is four steps, and this is the only diagram I will show you today.</a:t>
            </a:r>
          </a:p>
          <a:p/>
          <a:p>
            <a:r>
              <a:t>Step one. We build a pool of candidate glyphs. 146 of them.</a:t>
            </a:r>
          </a:p>
          <a:p/>
          <a:p>
            <a:r>
              <a:t>Latin letters, Cyrillic, Arabic, Braille, and DCT patterns, which are just simple stripe and checker gratings."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2 of 4]</a:t>
            </a:r>
          </a:p>
          <a:p/>
          <a:p>
            <a:r>
              <a:t>"Step two. We push every glyph through a simulated retinal implant.</a:t>
            </a:r>
          </a:p>
          <a:p/>
          <a:p>
            <a:r>
              <a:t>So now we see what each one actually looks like after the phosphene blur, and after the ghost of the previous symbol is layered on top of it."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3 of 4]</a:t>
            </a:r>
          </a:p>
          <a:p/>
          <a:p>
            <a:r>
              <a:t>"Step three. We show those degraded images to a neural network that acts as a stand-in observer, and we read off which pairs it confuses.</a:t>
            </a:r>
          </a:p>
          <a:p/>
          <a:p>
            <a:r>
              <a:t>I want to be precise here, because this is the part I would push on if I were sitting where you are.</a:t>
            </a:r>
          </a:p>
          <a:p/>
          <a:p>
            <a:r>
              <a:t>That network is not a model of a person. It is a fixed, reproducible yardstick for whether two symbols are still structurally different after the channel has had its way with them."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4 of 4]</a:t>
            </a:r>
          </a:p>
          <a:p/>
          <a:p>
            <a:r>
              <a:t>"Step four. We take that confusion, weight it by how often each pair of letters actually occurs in the language, and we choose the assignment that keeps frequent neighbours apart.</a:t>
            </a:r>
          </a:p>
          <a:p/>
          <a:p>
            <a:r>
              <a:t>And that last step, the weighting by language, turned out to matter more than I expected. I will come back to it at the end."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"So why weight by the language?</a:t>
            </a:r>
          </a:p>
          <a:p/>
          <a:p>
            <a:r>
              <a:t>Because errors are not equally costly.</a:t>
            </a:r>
          </a:p>
          <a:p/>
          <a:p>
            <a:r>
              <a:t>This chart shows the most common letter pairs in English. T followed by H is about three percent of every letter transition you will ever read.</a:t>
            </a:r>
          </a:p>
          <a:p/>
          <a:p>
            <a:r>
              <a:t>So if your symbols for T and H happen to collide, you pay that price on every single page. Q followed by Z, you basically never pay.</a:t>
            </a:r>
          </a:p>
          <a:p/>
          <a:p>
            <a:r>
              <a:t>The optimiser spends its effort where the language spends its."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1 of 3]</a:t>
            </a:r>
          </a:p>
          <a:p/>
          <a:p>
            <a:r>
              <a:t>"Quickly, so the rest of the talk makes sense. These are the five families the pool draws from.</a:t>
            </a:r>
          </a:p>
          <a:p/>
          <a:p>
            <a:r>
              <a:t>Latin letters, Braille dot patterns, Arabic, DCT gratings, and Cyrillic.</a:t>
            </a:r>
          </a:p>
          <a:p/>
          <a:p>
            <a:r>
              <a:t>And this is the gentlest setting the paper tests. 100 micron phosphenes, no axonal stimulation at all. Everything here is still readable."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2 of 3]</a:t>
            </a:r>
          </a:p>
          <a:p/>
          <a:p>
            <a:r>
              <a:t>"Now I turn on axonal stimulation, which is what makes a phosphene smear into a comet tail along the nerve fibre.</a:t>
            </a:r>
          </a:p>
          <a:p/>
          <a:p>
            <a:r>
              <a:t>300 micron phosphenes, a 1000 micron streak.</a:t>
            </a:r>
          </a:p>
          <a:p/>
          <a:p>
            <a:r>
              <a:t>Notice what goes first. The fine strokes. Look at the Arabic row, and look at those fine DCT gratings on the fourth row."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3 of 3]</a:t>
            </a:r>
          </a:p>
          <a:p/>
          <a:p>
            <a:r>
              <a:t>"And this is the worst setting. 500 micron phosphenes, a 5000 micron streak.</a:t>
            </a:r>
          </a:p>
          <a:p/>
          <a:p>
            <a:r>
              <a:t>Latin, Arabic and Cyrillic have all collapsed into centred blobs.</a:t>
            </a:r>
          </a:p>
          <a:p/>
          <a:p>
            <a:r>
              <a:t>But look at the Braille row. Those dots are still separate objects.</a:t>
            </a:r>
          </a:p>
          <a:p/>
          <a:p>
            <a:r>
              <a:t>Coarse and blocky survives. Remember that, it comes back."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"When I say the network tells us which pairs get confused, here is exactly what I mean, for just the 26 Latin letters.</a:t>
            </a:r>
          </a:p>
          <a:p/>
          <a:p>
            <a:r>
              <a:t>Every row is the symbol we showed. Every column is what the network read it as.</a:t>
            </a:r>
          </a:p>
          <a:p/>
          <a:p>
            <a:r>
              <a:t>The dark diagonal is the good case. It usually gets it right.</a:t>
            </a:r>
          </a:p>
          <a:p/>
          <a:p>
            <a:r>
              <a:t>The dark cells OFF the diagonal are the confusions. Here is one, flagged in orange.</a:t>
            </a:r>
          </a:p>
          <a:p/>
          <a:p>
            <a:r>
              <a:t>And this is fully reproducible. You can take this matrix and check my result yourself."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"Now zoom out to all 146 symbols. Same picture, same colour scale.</a:t>
            </a:r>
          </a:p>
          <a:p/>
          <a:p>
            <a:r>
              <a:t>Two things here.</a:t>
            </a:r>
          </a:p>
          <a:p/>
          <a:p>
            <a:r>
              <a:t>First, notice the confusion is blocky. Symbols mostly get confused inside their own family. So the confusions are structured, not random noise, and structure is something you can optimise against.</a:t>
            </a:r>
          </a:p>
          <a:p/>
          <a:p>
            <a:r>
              <a:t>Second, look at this corner. Cyrillic getting read as Latin, because those two alphabets share letterforms.</a:t>
            </a:r>
          </a:p>
          <a:p/>
          <a:p>
            <a:r>
              <a:t>This is a map. And a map is something you can route around."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[ANIMATION on this slide - plays in Slide Show mode]</a:t>
            </a:r>
          </a:p>
          <a:p/>
          <a:p>
            <a:r>
              <a:t>[build 1 of 3]</a:t>
            </a:r>
          </a:p>
          <a:p/>
          <a:p>
            <a:r>
              <a:t>"So now watch what that actually costs you.</a:t>
            </a:r>
          </a:p>
          <a:p/>
          <a:p>
            <a:r>
              <a:t>The top row is the word 'read' in ordinary letters, going through the implant. The bottom row is the same word, same channel, spelled in the glyphs SymbolSight chose instead.</a:t>
            </a:r>
          </a:p>
          <a:p/>
          <a:p>
            <a:r>
              <a:t>This is low distortion, and honestly, at this level both of them work. The letters are readable.</a:t>
            </a:r>
          </a:p>
          <a:p/>
          <a:p>
            <a:r>
              <a:t>The chosen glyphs happen to be a W, a fine grating, a Cyrillic Yu, and a checkerboard."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[ANIMATION on this slide - plays in Slide Show mode]</a:t>
            </a:r>
          </a:p>
          <a:p/>
          <a:p>
            <a:r>
              <a:t>[build 2 of 3]</a:t>
            </a:r>
          </a:p>
          <a:p/>
          <a:p>
            <a:r>
              <a:t>"Now I add medium distortion.</a:t>
            </a:r>
          </a:p>
          <a:p/>
          <a:p>
            <a:r>
              <a:t>Look at the top row. It is already going. The R and the E are melting toward the same shape.</a:t>
            </a:r>
          </a:p>
          <a:p/>
          <a:p>
            <a:r>
              <a:t>And the bottom row has changed too, and this is the part I did not expect.</a:t>
            </a:r>
          </a:p>
          <a:p/>
          <a:p>
            <a:r>
              <a:t>The optimiser has thrown away the fine gratings it was perfectly happy with a moment ago, and reached for coarser things instead."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[ANIMATION on this slide - plays in Slide Show mode]</a:t>
            </a:r>
          </a:p>
          <a:p/>
          <a:p>
            <a:r>
              <a:t>[build 3 of 3]</a:t>
            </a:r>
          </a:p>
          <a:p/>
          <a:p>
            <a:r>
              <a:t>"And high distortion.</a:t>
            </a:r>
          </a:p>
          <a:p/>
          <a:p>
            <a:r>
              <a:t>Look at the top row. Four centred blobs. That is my first slide, happening on every letter.</a:t>
            </a:r>
          </a:p>
          <a:p/>
          <a:p>
            <a:r>
              <a:t>Now look at the bottom row, and look at the SHAPE of the bright region. A band. A hook. A wedge. A wide smear.</a:t>
            </a:r>
          </a:p>
          <a:p/>
          <a:p>
            <a:r>
              <a:t>They stay apart. And every one of them is coarse.</a:t>
            </a:r>
          </a:p>
          <a:p/>
          <a:p>
            <a:r>
              <a:t>The optimiser is not being clever. It is being robust."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1 of 3]</a:t>
            </a:r>
          </a:p>
          <a:p/>
          <a:p>
            <a:r>
              <a:t>"So let me put a number on it.</a:t>
            </a:r>
          </a:p>
          <a:p/>
          <a:p>
            <a:r>
              <a:t>Blue is native English letters, at the three distortion levels. That is the baseline, and lower is better."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2 of 3]</a:t>
            </a:r>
          </a:p>
          <a:p/>
          <a:p>
            <a:r>
              <a:t>"Orange is what you get by picking 26 symbols at random out of the pool, with no optimisation at all, and keeping the luckiest of 201 tries.</a:t>
            </a:r>
          </a:p>
          <a:p/>
          <a:p>
            <a:r>
              <a:t>Even that lucky random draw beats the native alphabet, by about three to four times.</a:t>
            </a:r>
          </a:p>
          <a:p/>
          <a:p>
            <a:r>
              <a:t>And I want to be honest about the word lucky: the average random draw is barely better than native. So heterogeneity on its own is not the answer.</a:t>
            </a:r>
          </a:p>
          <a:p/>
          <a:p>
            <a:r>
              <a:t>But the fact that a lucky guess beats the alphabet at all tells you something uncomfortable. The Latin alphabet is a poor codebook for this channel. It was designed for high-resolution parallel reading on paper, not for this."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3 of 3]</a:t>
            </a:r>
          </a:p>
          <a:p/>
          <a:p>
            <a:r>
              <a:t>"And green is SymbolSight.</a:t>
            </a:r>
          </a:p>
          <a:p/>
          <a:p>
            <a:r>
              <a:t>Optimisation takes it much further. Fifteen to twenty-two times on this slide, and a median factor of 22 across all nine conditions.</a:t>
            </a:r>
          </a:p>
          <a:p/>
          <a:p>
            <a:r>
              <a:t>So the search is doing the work, not the diversity. Hold onto that, it comes back at the end.</a:t>
            </a:r>
          </a:p>
          <a:p/>
          <a:p>
            <a:r>
              <a:t>But I also want to be careful about what that 22 actually means. Which is my next slide."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"So let me tell you what this is NOT.</a:t>
            </a:r>
          </a:p>
          <a:p/>
          <a:p>
            <a:r>
              <a:t>It is a simulation.</a:t>
            </a:r>
          </a:p>
          <a:p/>
          <a:p>
            <a:r>
              <a:t>The observer is a neural network reading generic image features. A human who trained on these symbols for a few weeks could probably do better, so this is not an upper bound on anything.</a:t>
            </a:r>
          </a:p>
          <a:p/>
          <a:p>
            <a:r>
              <a:t>The 22 is a design score for comparing codebooks. It is not a predicted reading accuracy, and I would ask you not to quote it as one.</a:t>
            </a:r>
          </a:p>
          <a:p/>
          <a:p>
            <a:r>
              <a:t>And then the honest headline. No human being has ever read a single word this way.</a:t>
            </a:r>
          </a:p>
          <a:p/>
          <a:p>
            <a:r>
              <a:t>What I have built is a filter. It turns an impossibly large design space into a short list worth testing on actual people."</a:t>
            </a:r>
          </a:p>
          <a:p/>
          <a:p>
            <a:r>
              <a:t>RESTORE ONLY IF AHEAD OF SCHEDULE (~12s). Say it between the design-score line and the honest headline: "And simulated prosthetic vision with sighted observers is known to over-estimate performance. That is a real limitation, and it is exactly why every number here is a relative ranking under one fixed model, and not an absolute claim." This sentence is pre-cut by default so the closing handoff always has room. The point survives without it: the line above already says the 22 is not an accuracy, and backup B7 covers it in full if anyone asks (qa.md Q6).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"So, to summarise what I found.</a:t>
            </a:r>
          </a:p>
          <a:p/>
          <a:p>
            <a:r>
              <a:t>One. The confusions are structured, not noise. That is the thing that makes them optimisable at all.</a:t>
            </a:r>
          </a:p>
          <a:p/>
          <a:p>
            <a:r>
              <a:t>Two. A large gain, about 22 times on my metric, is available purely in software, on arrays that already exist.</a:t>
            </a:r>
          </a:p>
          <a:p/>
          <a:p>
            <a:r>
              <a:t>Three. When I decomposed that gain, the language-aware assignment carried the larger share, not the distinctive shapes. The breakdown is in my backup slides if anyone wants it.</a:t>
            </a:r>
          </a:p>
          <a:p/>
          <a:p>
            <a:r>
              <a:t>And then a personal note to close.</a:t>
            </a:r>
          </a:p>
          <a:p/>
          <a:p>
            <a:r>
              <a:t>I did this as a solo project across a gap year. No funding, no course credit. I start a PhD in the fall, on a different problem, so this paper is where my part of it ends.</a:t>
            </a:r>
          </a:p>
          <a:p/>
          <a:p>
            <a:r>
              <a:t>Which means I would much rather leave this with you than hold onto it.</a:t>
            </a:r>
          </a:p>
          <a:p/>
          <a:p>
            <a:r>
              <a:t>Everything is public. The paper, the code, the confusion matrices, the whole symbol pool.</a:t>
            </a:r>
          </a:p>
          <a:p/>
          <a:p>
            <a:r>
              <a:t>And there are two questions I could not answer, that some of you can.</a:t>
            </a:r>
          </a:p>
          <a:p/>
          <a:p>
            <a:r>
              <a:t>If you see patients: does this confusion structure look anything like what your patients actually mix up? Because if it does not, my yardstick is wrong and I would like to know.</a:t>
            </a:r>
          </a:p>
          <a:p/>
          <a:p>
            <a:r>
              <a:t>If you build the arrays: which of these glyphs could a real device actually put on the retina?</a:t>
            </a:r>
          </a:p>
          <a:p/>
          <a:p>
            <a:r>
              <a:t>Come find me today, or email me, and I will hand over everything I know. Including the parts that did not work.</a:t>
            </a:r>
          </a:p>
          <a:p/>
          <a:p>
            <a:r>
              <a:t>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SHEET. Your answer slide for any 'what exactly did you use' question.</a:t>
            </a:r>
          </a:p>
          <a:p/>
          <a:p>
            <a:r>
              <a:t>Put it up and read from it; do not try to recite it.</a:t>
            </a:r>
          </a:p>
          <a:p/>
          <a:p>
            <a:r>
              <a:t>Most-asked blocks: PROXY OBSERVER (140,306 trainable params on a frozen MobileNetV3-Large), IMPLANT (16x16 disk electrodes, 250um pitch, 3.75mm across), DISTORTION LEVELS (rho/lambda per level), ASSIGNMENT (greedy init + local search).</a:t>
            </a:r>
          </a:p>
          <a:p/>
          <a:p>
            <a:r>
              <a:t>Say 'greedy plus local search', never 'Hungarian' (qa Q9).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 art / Lauritzen 2012 (qa Q1).</a:t>
            </a:r>
          </a:p>
          <a:p/>
          <a:p>
            <a:r>
              <a:t>Braille via Argus II, 89% on single letters: one code, by hand, for one Braille-reading subject.</a:t>
            </a:r>
          </a:p>
          <a:p/>
          <a:p>
            <a:r>
              <a:t>We give a METHOD for choosing the code. Defensible novelty is the combination: search over a large pool + an SPV confusion model + language bigrams.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vs assignment ablation. THE ONE TO KNOW COLD.</a:t>
            </a:r>
          </a:p>
          <a:p/>
          <a:p>
            <a:r>
              <a:t>If asked 'how much is the bigrams vs just distinctive shapes' (qa Q4): freezing the 26 chosen symbols and shuffling them onto letters keeps about 2.9x; the language-aware assignment adds about 5.5x more.</a:t>
            </a:r>
          </a:p>
          <a:p/>
          <a:p>
            <a:r>
              <a:t>The assignment carries the LARGER share. This is also finding three on your 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Holds across scripts (Table II).</a:t>
            </a:r>
          </a:p>
          <a:p/>
          <a:p>
            <a:r>
              <a:t>Median 22x, range 12.5-29.6x, across English, Bulgarian and Arabic. Not an artefact of one orthography.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the optimised glyphs come from.</a:t>
            </a:r>
          </a:p>
          <a:p/>
          <a:p>
            <a:r>
              <a:t>As distortion rises the optimiser shifts from DCT gratings toward coarse Braille clusters; low-frequency content is what survives blur.</a:t>
            </a:r>
          </a:p>
          <a:p/>
          <a:p>
            <a:r>
              <a:t>This is the evidence behind 'it is not being clever, it is being robust' on slide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CNN proxy (qa Q5).</a:t>
            </a:r>
          </a:p>
          <a:p/>
          <a:p>
            <a:r>
              <a:t>Frozen ImageNet features, linear read-out. A yardstick for structural separability, NOT a human-accuracy model.</a:t>
            </a:r>
          </a:p>
          <a:p/>
          <a:p>
            <a:r>
              <a:t>Say 'fixed yardstick', never 'upper bound'. Falsifiable against published human letter-confusion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SPV validity (qa Q6).</a:t>
            </a:r>
          </a:p>
          <a:p/>
          <a:p>
            <a:r>
              <a:t>Concede fully: simulated vision with sighted observers over-estimates.</a:t>
            </a:r>
          </a:p>
          <a:p/>
          <a:p>
            <a:r>
              <a:t>Every number here is a relative ranking under one fixed forward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(qa Q13).</a:t>
            </a:r>
          </a:p>
          <a:p/>
          <a:p>
            <a:r>
              <a:t>Different device class: subretinal, 100um pixels, and the axonal streaking that drives my model is an epiretinal phenomenon.</a:t>
            </a:r>
          </a:p>
          <a:p/>
          <a:p>
            <a:r>
              <a:t>Zoom buys resolution by spending field of view, so at high zoom you read about one character at a time: exactly our regime. PRIMA is the motivating example, not the competitor.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nim_hook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187" y="1165859"/>
            <a:ext cx="370332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nim_grid_step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64" y="480059"/>
            <a:ext cx="10563367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nim_grid_step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64" y="480059"/>
            <a:ext cx="10563367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nim_grid_step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64" y="480059"/>
            <a:ext cx="10563367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